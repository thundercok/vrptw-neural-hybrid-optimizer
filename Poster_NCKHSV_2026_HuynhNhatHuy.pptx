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21374100" cy="302768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itchFamily="2" charset="77"/>
      <p:regular r:id="rId8"/>
      <p:bold r:id="rId9"/>
      <p:italic r:id="rId10"/>
      <p:boldItalic r:id="rId11"/>
    </p:embeddedFont>
    <p:embeddedFont>
      <p:font typeface="Montserrat Light" panose="020F0302020204030204" pitchFamily="34" charset="0"/>
      <p:regular r:id="rId12"/>
      <p:bold r:id="rId13"/>
      <p:italic r:id="rId14"/>
      <p:boldItalic r:id="rId15"/>
    </p:embeddedFont>
    <p:embeddedFont>
      <p:font typeface="Montserrat SemiBold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79OljXeFdIvBKvLHKQHG3djUW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4567CD-824D-4FBB-9696-82BEE4D623AA}">
  <a:tblStyle styleId="{E84567CD-824D-4FBB-9696-82BEE4D623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>
        <p:scale>
          <a:sx n="45" d="100"/>
          <a:sy n="45" d="100"/>
        </p:scale>
        <p:origin x="2296" y="144"/>
      </p:cViewPr>
      <p:guideLst>
        <p:guide orient="horz" pos="21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font" Target="fonts/font15.fntdata"/><Relationship Id="rId19" Type="http://schemas.openxmlformats.org/officeDocument/2006/relationships/font" Target="fonts/font16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9975" y="1143000"/>
            <a:ext cx="2178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36916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A553158B-8B81-534C-2B10-181637E5FB70}"/>
              </a:ext>
            </a:extLst>
          </p:cNvPr>
          <p:cNvSpPr txBox="1"/>
          <p:nvPr/>
        </p:nvSpPr>
        <p:spPr>
          <a:xfrm>
            <a:off x="1223390" y="851962"/>
            <a:ext cx="11786028" cy="90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NGHIÊN CỨU KHOA HỌC SINH VIÊN</a:t>
            </a:r>
            <a:endParaRPr sz="48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90;p1">
            <a:extLst>
              <a:ext uri="{FF2B5EF4-FFF2-40B4-BE49-F238E27FC236}">
                <a16:creationId xmlns:a16="http://schemas.microsoft.com/office/drawing/2014/main" id="{88657C30-9F12-6A6F-5A04-545F20F1C312}"/>
              </a:ext>
            </a:extLst>
          </p:cNvPr>
          <p:cNvSpPr txBox="1"/>
          <p:nvPr/>
        </p:nvSpPr>
        <p:spPr>
          <a:xfrm>
            <a:off x="1223390" y="2742225"/>
            <a:ext cx="15167700" cy="90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9259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FFFFFF"/>
                </a:solidFill>
                <a:latin typeface="Montserrat"/>
              </a:defRPr>
            </a:pPr>
            <a:r>
              <a:t>TỐI ƯU HÓA BÀI TOÁN ĐỊNH TUYẾN PHƯƠNG TIỆN CÓ KHUNG THỜI GIAN</a:t>
            </a:r>
            <a:endParaRPr sz="540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>
              <a:defRPr sz="1400" b="1">
                <a:solidFill>
                  <a:srgbClr val="FBBF24"/>
                </a:solidFill>
                <a:latin typeface="Montserrat"/>
              </a:defRPr>
            </a:pPr>
            <a:r>
              <a:t>BẰNG THUẬT TOÁN TÌM KIẾM LÂN CẬN LỚN THÍCH ỨNG LAI HỌC TĂNG CƯỜNG SÂU</a:t>
            </a:r>
          </a:p>
        </p:txBody>
      </p:sp>
      <p:sp>
        <p:nvSpPr>
          <p:cNvPr id="9" name="Google Shape;91;p1">
            <a:extLst>
              <a:ext uri="{FF2B5EF4-FFF2-40B4-BE49-F238E27FC236}">
                <a16:creationId xmlns:a16="http://schemas.microsoft.com/office/drawing/2014/main" id="{54D6BB4B-1B9A-3B84-CF9D-12DFAE13E2E2}"/>
              </a:ext>
            </a:extLst>
          </p:cNvPr>
          <p:cNvSpPr txBox="1"/>
          <p:nvPr/>
        </p:nvSpPr>
        <p:spPr>
          <a:xfrm>
            <a:off x="1179847" y="4048509"/>
            <a:ext cx="15167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SVTH: Huỳnh Nhật Huy (MSSV: 523C0012)        GVHD: TS. Hồ Thị Linh</a:t>
            </a:r>
            <a:endParaRPr dirty="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92;p1">
            <a:extLst>
              <a:ext uri="{FF2B5EF4-FFF2-40B4-BE49-F238E27FC236}">
                <a16:creationId xmlns:a16="http://schemas.microsoft.com/office/drawing/2014/main" id="{0A0BB486-BC87-1F9F-F5EF-DB7ADF3FDD24}"/>
              </a:ext>
            </a:extLst>
          </p:cNvPr>
          <p:cNvSpPr txBox="1"/>
          <p:nvPr/>
        </p:nvSpPr>
        <p:spPr>
          <a:xfrm>
            <a:off x="1179847" y="5496309"/>
            <a:ext cx="15704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E2E8F0"/>
                </a:solidFill>
                <a:latin typeface="Montserrat"/>
              </a:defRPr>
            </a:pPr>
            <a:r>
              <a:t>Sinh viên ngành: Khoa học Máy tính                 Nhóm nghiên cứu: NLP-KD, Khoa Công nghệ Thông tin</a:t>
            </a:r>
            <a:endParaRPr sz="2800" i="1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" name="Google Shape;94;p1">
            <a:extLst>
              <a:ext uri="{FF2B5EF4-FFF2-40B4-BE49-F238E27FC236}">
                <a16:creationId xmlns:a16="http://schemas.microsoft.com/office/drawing/2014/main" id="{FB68FE31-1D89-43F8-F423-624798DE6AB0}"/>
              </a:ext>
            </a:extLst>
          </p:cNvPr>
          <p:cNvSpPr txBox="1"/>
          <p:nvPr/>
        </p:nvSpPr>
        <p:spPr>
          <a:xfrm>
            <a:off x="1223390" y="1721475"/>
            <a:ext cx="774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Khoa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Công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nghệ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Thông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tin</a:t>
            </a:r>
            <a:endParaRPr sz="3200" i="1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" name="Google Shape;103;p1">
            <a:extLst>
              <a:ext uri="{FF2B5EF4-FFF2-40B4-BE49-F238E27FC236}">
                <a16:creationId xmlns:a16="http://schemas.microsoft.com/office/drawing/2014/main" id="{E860BDE5-847E-256D-9703-FE1A69F40AA2}"/>
              </a:ext>
            </a:extLst>
          </p:cNvPr>
          <p:cNvSpPr/>
          <p:nvPr/>
        </p:nvSpPr>
        <p:spPr>
          <a:xfrm>
            <a:off x="8815024" y="26591634"/>
            <a:ext cx="744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5;p1">
            <a:extLst>
              <a:ext uri="{FF2B5EF4-FFF2-40B4-BE49-F238E27FC236}">
                <a16:creationId xmlns:a16="http://schemas.microsoft.com/office/drawing/2014/main" id="{CA11F223-AB15-EC04-90C5-B529401102C0}"/>
              </a:ext>
            </a:extLst>
          </p:cNvPr>
          <p:cNvSpPr txBox="1"/>
          <p:nvPr/>
        </p:nvSpPr>
        <p:spPr>
          <a:xfrm>
            <a:off x="1651400" y="7654225"/>
            <a:ext cx="72696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GIỚI THIỆU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07;p1">
            <a:extLst>
              <a:ext uri="{FF2B5EF4-FFF2-40B4-BE49-F238E27FC236}">
                <a16:creationId xmlns:a16="http://schemas.microsoft.com/office/drawing/2014/main" id="{2A34DB16-929D-F576-5899-182D80CC1870}"/>
              </a:ext>
            </a:extLst>
          </p:cNvPr>
          <p:cNvSpPr txBox="1"/>
          <p:nvPr/>
        </p:nvSpPr>
        <p:spPr>
          <a:xfrm>
            <a:off x="1651400" y="12052450"/>
            <a:ext cx="180192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PHƯƠNG PHÁP THỰC HIỆN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10;p1">
            <a:extLst>
              <a:ext uri="{FF2B5EF4-FFF2-40B4-BE49-F238E27FC236}">
                <a16:creationId xmlns:a16="http://schemas.microsoft.com/office/drawing/2014/main" id="{CABADC25-4758-F643-C641-55A2CAC5311A}"/>
              </a:ext>
            </a:extLst>
          </p:cNvPr>
          <p:cNvSpPr txBox="1"/>
          <p:nvPr/>
        </p:nvSpPr>
        <p:spPr>
          <a:xfrm>
            <a:off x="9443925" y="7654225"/>
            <a:ext cx="102468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TẬP DỮ LIỆU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2;p1">
            <a:extLst>
              <a:ext uri="{FF2B5EF4-FFF2-40B4-BE49-F238E27FC236}">
                <a16:creationId xmlns:a16="http://schemas.microsoft.com/office/drawing/2014/main" id="{CC5935C3-9EBD-28A4-B057-1281F5EE69F2}"/>
              </a:ext>
            </a:extLst>
          </p:cNvPr>
          <p:cNvSpPr txBox="1"/>
          <p:nvPr/>
        </p:nvSpPr>
        <p:spPr>
          <a:xfrm>
            <a:off x="1868375" y="20942825"/>
            <a:ext cx="120234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KẾT QUẢ THỰC NGHIỆM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3;p1">
            <a:extLst>
              <a:ext uri="{FF2B5EF4-FFF2-40B4-BE49-F238E27FC236}">
                <a16:creationId xmlns:a16="http://schemas.microsoft.com/office/drawing/2014/main" id="{A6910001-B2F0-7FDC-60AC-811679C9BCE9}"/>
              </a:ext>
            </a:extLst>
          </p:cNvPr>
          <p:cNvSpPr/>
          <p:nvPr/>
        </p:nvSpPr>
        <p:spPr>
          <a:xfrm>
            <a:off x="14332400" y="21470811"/>
            <a:ext cx="5047200" cy="5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endParaRPr/>
          </a:p>
        </p:txBody>
      </p:sp>
      <p:sp>
        <p:nvSpPr>
          <p:cNvPr id="32" name="Google Shape;114;p1">
            <a:extLst>
              <a:ext uri="{FF2B5EF4-FFF2-40B4-BE49-F238E27FC236}">
                <a16:creationId xmlns:a16="http://schemas.microsoft.com/office/drawing/2014/main" id="{913D6C69-6E19-37B3-3966-9F67AC4BDE9C}"/>
              </a:ext>
            </a:extLst>
          </p:cNvPr>
          <p:cNvSpPr txBox="1"/>
          <p:nvPr/>
        </p:nvSpPr>
        <p:spPr>
          <a:xfrm>
            <a:off x="14407250" y="20942826"/>
            <a:ext cx="48975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KẾT LUẬN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52400" y="8208000"/>
            <a:ext cx="73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50">
                <a:solidFill>
                  <a:srgbClr val="102542"/>
                </a:solidFill>
                <a:latin typeface="Arial"/>
              </a:rPr>
              <a:t>• Bài toán VRPTW: </a:t>
            </a:r>
            <a:r>
              <a:rPr sz="850">
                <a:solidFill>
                  <a:srgbClr val="1E293B"/>
                </a:solidFill>
                <a:latin typeface="Arial"/>
              </a:rPr>
              <a:t>Định tuyến đội xe phục vụ tập khách hàng có vị trí, tải trọng và khung thời gian giao hàng [e_i, l_i], thỏa mãn sức chứa Q và bảo toàn luồng depot.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542"/>
                </a:solidFill>
                <a:latin typeface="Arial"/>
              </a:rPr>
              <a:t>• Hàm mục tiêu: </a:t>
            </a:r>
            <a:r>
              <a:rPr sz="850">
                <a:solidFill>
                  <a:srgbClr val="1E293B"/>
                </a:solidFill>
                <a:latin typeface="Arial"/>
              </a:rPr>
              <a:t>Tối ưu hóa từ điển phân cấp (Lexicographic): min f(s) = M · N_V(s) + D_T(s) với M = 10⁵ (ưu tiên tối thượng giảm số xe, sau đó giảm tổng quãng đường).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542"/>
                </a:solidFill>
                <a:latin typeface="Arial"/>
              </a:rPr>
              <a:t>• Hạn chế ALNS cổ điển: </a:t>
            </a:r>
            <a:r>
              <a:rPr sz="850">
                <a:solidFill>
                  <a:srgbClr val="1E293B"/>
                </a:solidFill>
                <a:latin typeface="Arial"/>
              </a:rPr>
              <a:t>Phụ thuộc vào cơ chế roulette-wheel ngẫu nhiên tĩnh, dễ sa lầy tại các vùng bình nguyên (search plateaus).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02542"/>
                </a:solidFill>
                <a:latin typeface="Arial"/>
              </a:rPr>
              <a:t>• Hạn chế End-to-End DRL: </a:t>
            </a:r>
            <a:r>
              <a:rPr sz="850">
                <a:solidFill>
                  <a:srgbClr val="1E293B"/>
                </a:solidFill>
                <a:latin typeface="Arial"/>
              </a:rPr>
              <a:t>Mô hình nơ-ron thuần túy dễ vi phạm khung thời gian khi gặp phân phối kích thước mở rộng (out-of-distribution).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9442800" y="8208000"/>
          <a:ext cx="1024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60000"/>
                <a:gridCol w="1980000"/>
                <a:gridCol w="5025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Bộ Thực Nghiệm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Bài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Quy Mô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Đặc Trưng Không-Thời Gian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Solomon-100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 khách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 họ: Cụm (C1,C2), Ngẫu nhiên (R1,R2), Hỗn hợp (RC1,RC2)</a:t>
                      </a:r>
                    </a:p>
                  </a:txBody>
                  <a:tcPr/>
                </a:tc>
              </a:tr>
              <a:tr h="405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Homberger-200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200 khách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 bài toán × 6 họ cấu trúc địa hình không gian</a:t>
                      </a:r>
                    </a:p>
                  </a:txBody>
                  <a:tcPr/>
                </a:tc>
              </a:tr>
              <a:tr h="40500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Homberger-400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400 khách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Quy mô lớn thử thách giới hạn tìm kiếm thuật toán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442800" y="9900000"/>
            <a:ext cx="10245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102542"/>
                </a:solidFill>
                <a:latin typeface="Arial"/>
              </a:rPr>
              <a:t>• Quy chuẩn Cold-Start độc lập: </a:t>
            </a:r>
            <a:r>
              <a:rPr sz="800">
                <a:solidFill>
                  <a:srgbClr val="1E293B"/>
                </a:solidFill>
                <a:latin typeface="Arial"/>
              </a:rPr>
              <a:t>Bộ nhớ đệm được làm sạch hoàn toàn giữa các lượt chạy. Mọi bộ giải bắt đầu độc lập từ nghiệm tham lam ban đầu (100% tái lập, zero rò rỉ bộ nhớ).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102542"/>
                </a:solidFill>
                <a:latin typeface="Arial"/>
              </a:rPr>
              <a:t>• Domain Randomization: </a:t>
            </a:r>
            <a:r>
              <a:rPr sz="800">
                <a:solidFill>
                  <a:srgbClr val="1E293B"/>
                </a:solidFill>
                <a:latin typeface="Arial"/>
              </a:rPr>
              <a:t>Huấn luyện trên 20-100 khách và chuyển giao zero-shot sang Homberger 200-400.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2400" y="12528000"/>
            <a:ext cx="1801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850">
                <a:solidFill>
                  <a:srgbClr val="102542"/>
                </a:solidFill>
                <a:latin typeface="Arial"/>
              </a:rPr>
              <a:t>• Kiến trúc 3 Tầng Phối Hợp: </a:t>
            </a:r>
            <a:r>
              <a:rPr sz="850">
                <a:solidFill>
                  <a:srgbClr val="1E293B"/>
                </a:solidFill>
                <a:latin typeface="Arial"/>
              </a:rPr>
              <a:t>Tầng 1 (Macro DDQN, 7 chế độ SMDP) điều phối chiến lược khai phá/tăng cường • Tầng 2 (Micro DDQN 65 cặp toán tử + Learned Acceptance lookahead H=80) • Tầng 3 (Granular ALNS O(1) slack check + Contrastive GNN tỉa 98.7% cạnh + Set Partitioning MILP qua HiGHS cutoff 4.0s).</a:t>
            </a:r>
          </a:p>
        </p:txBody>
      </p:sp>
      <p:pic>
        <p:nvPicPr>
          <p:cNvPr id="37" name="Picture 36" descr="poster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0" y="13392000"/>
            <a:ext cx="17352000" cy="9323808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868400" y="21492000"/>
          <a:ext cx="756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512000"/>
                <a:gridCol w="1260000"/>
                <a:gridCol w="1584000"/>
                <a:gridCol w="1584000"/>
              </a:tblGrid>
              <a:tr h="345600"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Tập Dữ Liệu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Xe NV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Quãng Đường TD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Ý Nghĩa Thống Kê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Solomon-100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ALNS-Base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1017.31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3456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(56 bài toán)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Hybrid-DDQN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1017.82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 = 0.00127 (Thắng)</a:t>
                      </a:r>
                    </a:p>
                  </a:txBody>
                  <a:tcPr/>
                </a:tc>
              </a:tr>
              <a:tr h="3456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Homberger-200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ALNS-Base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11.87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3009.91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3456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(60 bài toán)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Hybrid-DDQN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11.58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2844.73 (-165.2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 = 1.34×10⁻⁹ (Vượt trội)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9" name="Picture 38" descr="anytime_converg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000" y="21492000"/>
            <a:ext cx="4320000" cy="244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868400" y="23328000"/>
            <a:ext cx="120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100% Bảo Toàn Khả Thi: </a:t>
            </a:r>
            <a:r>
              <a:rPr sz="750">
                <a:solidFill>
                  <a:srgbClr val="1E293B"/>
                </a:solidFill>
                <a:latin typeface="Arial"/>
              </a:rPr>
              <a:t>0 vi phạm trên toàn bộ 580 lần chạy thực nghiệm (176 bài toán × 5 seeds).</a:t>
            </a:r>
          </a:p>
          <a:p>
            <a:pPr>
              <a:spcAft>
                <a:spcPts val="10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Ưu thế Quy mô 200: </a:t>
            </a:r>
            <a:r>
              <a:rPr sz="750">
                <a:solidFill>
                  <a:srgbClr val="1E293B"/>
                </a:solidFill>
                <a:latin typeface="Arial"/>
              </a:rPr>
              <a:t>Cùng hội tụ về số xe sàn, Hybrid-DDQN giảm quãng đường từ 1.75% đến 4.07% khi khớp số xe.</a:t>
            </a:r>
          </a:p>
          <a:p>
            <a:pPr>
              <a:spcAft>
                <a:spcPts val="10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Đột phá Quy mô 400: </a:t>
            </a:r>
            <a:r>
              <a:rPr sz="750">
                <a:solidFill>
                  <a:srgbClr val="1E293B"/>
                </a:solidFill>
                <a:latin typeface="Arial"/>
              </a:rPr>
              <a:t>Khắc phục hiện tượng dừng sớm của ALNS-Base, dẫn trước 0.70-0.80 xe trên c2_4_1 (p=0.0078) và r2_4_1 (p=0.0156).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331600" y="21492000"/>
            <a:ext cx="504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Đóng góp lý thuyết: </a:t>
            </a:r>
            <a:r>
              <a:rPr sz="750">
                <a:solidFill>
                  <a:srgbClr val="1E293B"/>
                </a:solidFill>
                <a:latin typeface="Arial"/>
              </a:rPr>
              <a:t>Khung Tri-Level hài hòa giữa năng lực khái quát hóa của RL và độ chuẩn xác của MILP.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Đóng góp thực nghiệm: </a:t>
            </a:r>
            <a:r>
              <a:rPr sz="750">
                <a:solidFill>
                  <a:srgbClr val="1E293B"/>
                </a:solidFill>
                <a:latin typeface="Arial"/>
              </a:rPr>
              <a:t>Minh bạch hóa giao thức Cold-Start độc lập và cung cấp bộ dữ liệu đối chuẩn tin cậy.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Công bố quốc tế: </a:t>
            </a:r>
            <a:r>
              <a:rPr sz="750">
                <a:solidFill>
                  <a:srgbClr val="1E293B"/>
                </a:solidFill>
                <a:latin typeface="Arial"/>
              </a:rPr>
              <a:t>Bản thảo nghiên cứu toàn văn gửi đăng tạp chí uy tín IEEE Access (SCIE, Q1, IF 3.4).</a:t>
            </a:r>
          </a:p>
          <a:p>
            <a:pPr>
              <a:spcAft>
                <a:spcPts val="150"/>
              </a:spcAft>
            </a:pPr>
            <a:r>
              <a:rPr b="1" sz="750">
                <a:solidFill>
                  <a:srgbClr val="102542"/>
                </a:solidFill>
                <a:latin typeface="Arial"/>
              </a:rPr>
              <a:t>• Tái lập khoa học: </a:t>
            </a:r>
            <a:r>
              <a:rPr sz="750">
                <a:solidFill>
                  <a:srgbClr val="1E293B"/>
                </a:solidFill>
                <a:latin typeface="Arial"/>
              </a:rPr>
              <a:t>Mã nguồn mở và toàn bộ trọng số mô hình được cung cấp công khai.</a:t>
            </a:r>
          </a:p>
        </p:txBody>
      </p:sp>
    </p:spTree>
    <p:extLst>
      <p:ext uri="{BB962C8B-B14F-4D97-AF65-F5344CB8AC3E}">
        <p14:creationId xmlns:p14="http://schemas.microsoft.com/office/powerpoint/2010/main" val="160433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 SemiBold</vt:lpstr>
      <vt:lpstr>Montserrat Light</vt:lpstr>
      <vt:lpstr>Montserrat</vt:lpstr>
      <vt:lpstr>Arial</vt:lpstr>
      <vt:lpstr>Times New Roman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Thanh-An NGUYEN</cp:lastModifiedBy>
  <cp:revision>4</cp:revision>
  <dcterms:created xsi:type="dcterms:W3CDTF">2006-08-16T00:00:00Z</dcterms:created>
  <dcterms:modified xsi:type="dcterms:W3CDTF">2024-09-22T08:28:35Z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1033-12.2.0.13215</vt:lpwstr>
  </property>
</Properties>
</file>